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3" r:id="rId5"/>
    <p:sldId id="261" r:id="rId6"/>
    <p:sldId id="262" r:id="rId7"/>
    <p:sldId id="264" r:id="rId8"/>
    <p:sldId id="258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29DDD3-3AE1-4222-8E8B-C072F920C3C6}" v="374" dt="2026-04-27T15:52:34.586"/>
    <p1510:client id="{A3877D24-54B2-2BF1-15DE-DD2F3C59755C}" v="79" dt="2026-04-27T16:21:42.824"/>
    <p1510:client id="{B6B375EA-2476-DF8D-532D-BB1CA4692C0B}" v="89" dt="2026-04-28T20:13:42.116"/>
    <p1510:client id="{F5ECB7A0-2375-2D4D-DD16-BB428C5E2778}" v="307" dt="2026-04-27T08:34:51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72218"/>
            <a:ext cx="9144000" cy="1175746"/>
          </a:xfrm>
        </p:spPr>
        <p:txBody>
          <a:bodyPr>
            <a:normAutofit fontScale="90000"/>
          </a:bodyPr>
          <a:lstStyle/>
          <a:p>
            <a:r>
              <a:rPr lang="en-GB"/>
              <a:t>Introduction to hashing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6640"/>
            <a:ext cx="9144000" cy="6734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Understanding Data Integrity and Security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FA595-956E-6366-0F00-A61B07E277C1}"/>
              </a:ext>
            </a:extLst>
          </p:cNvPr>
          <p:cNvSpPr txBox="1"/>
          <p:nvPr/>
        </p:nvSpPr>
        <p:spPr>
          <a:xfrm>
            <a:off x="3048000" y="530186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/>
              <a:t>Saif </a:t>
            </a:r>
            <a:r>
              <a:rPr lang="en-GB" sz="2400" err="1"/>
              <a:t>Abusnaneh</a:t>
            </a:r>
            <a:endParaRPr lang="en-GB" sz="2400" dirty="0" err="1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9619-A247-9E68-7377-F59B2D64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/>
              <a:t>hashing ???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3290F-2084-3655-949B-B8351AB74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Hash is process convert any data to </a:t>
            </a:r>
            <a:r>
              <a:rPr lang="en-GB">
                <a:ea typeface="+mn-lt"/>
                <a:cs typeface="+mn-lt"/>
              </a:rPr>
              <a:t>fixed</a:t>
            </a:r>
            <a:r>
              <a:rPr lang="en-GB" dirty="0">
                <a:ea typeface="+mn-lt"/>
                <a:cs typeface="+mn-lt"/>
              </a:rPr>
              <a:t> sequence of letters and numbers</a:t>
            </a:r>
          </a:p>
          <a:p>
            <a:r>
              <a:rPr lang="en-GB" dirty="0"/>
              <a:t>Has is one-way  : cant return hash to plaintext </a:t>
            </a:r>
          </a:p>
          <a:p>
            <a:r>
              <a:rPr lang="en-GB"/>
              <a:t>Deterministic : same input same hash</a:t>
            </a:r>
            <a:endParaRPr lang="en-GB" dirty="0"/>
          </a:p>
          <a:p>
            <a:r>
              <a:rPr lang="en-GB"/>
              <a:t>Fixed length  : length of hash fixed </a:t>
            </a:r>
          </a:p>
          <a:p>
            <a:r>
              <a:rPr lang="en-GB"/>
              <a:t>Avalanche effect  : any simple change input change all hash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55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61CE-B1BC-493E-18DA-AE131824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use Hashing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58742-5BBB-DD1E-0219-C2EBC6607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Password storage: Passwords are not stored as is; instead, their hashes are stored.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Data integrity: Ensuring that the file has not been tampered with during upload.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Digital signature: Verifying the sender's identity.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5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B676-5A99-C418-2ED7-8F8BF423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</a:t>
            </a:r>
            <a:r>
              <a:rPr lang="en-US" dirty="0" err="1"/>
              <a:t>linux</a:t>
            </a:r>
            <a:r>
              <a:rPr lang="en-US" dirty="0"/>
              <a:t> save password ?? </a:t>
            </a:r>
            <a:endParaRPr lang="en-US"/>
          </a:p>
        </p:txBody>
      </p:sp>
      <p:pic>
        <p:nvPicPr>
          <p:cNvPr id="7" name="Content Placeholder 6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4895DE47-96A1-CC81-BE67-FBE8C4297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362" y="3424687"/>
            <a:ext cx="79152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0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080E-B020-E534-8122-F1CC16A0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Mechanism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64719-7DE9-714E-7BD9-801E84C2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Hashing is not just a "shuffling" of letters; it involves complex mathematical operations:</a:t>
            </a:r>
            <a:endParaRPr lang="en-US" dirty="0"/>
          </a:p>
          <a:p>
            <a:r>
              <a:rPr lang="en-US" dirty="0"/>
              <a:t>Padding : </a:t>
            </a:r>
            <a:r>
              <a:rPr lang="en-US" dirty="0">
                <a:ea typeface="+mn-lt"/>
                <a:cs typeface="+mn-lt"/>
              </a:rPr>
              <a:t>The algorithm adds extra bits to the inputs in order to reach a certain fixed length.</a:t>
            </a:r>
          </a:p>
          <a:p>
            <a:r>
              <a:rPr lang="en-US" dirty="0">
                <a:ea typeface="+mn-lt"/>
                <a:cs typeface="+mn-lt"/>
              </a:rPr>
              <a:t>Compression Function: The data is divided into blocks, and each block goes into a mathematical "mill" (Logical operations such as: XOR, AND, </a:t>
            </a:r>
            <a:r>
              <a:rPr lang="en-US" dirty="0" err="1">
                <a:ea typeface="+mn-lt"/>
                <a:cs typeface="+mn-lt"/>
              </a:rPr>
              <a:t>OR,</a:t>
            </a:r>
            <a:r>
              <a:rPr lang="en-US" dirty="0">
                <a:ea typeface="+mn-lt"/>
                <a:cs typeface="+mn-lt"/>
              </a:rPr>
              <a:t> Shift).</a:t>
            </a:r>
          </a:p>
          <a:p>
            <a:r>
              <a:rPr lang="en-US" dirty="0">
                <a:ea typeface="+mn-lt"/>
                <a:cs typeface="+mn-lt"/>
              </a:rPr>
              <a:t>Iterative Process: The result from the first block is combined with the block after it, and so on until the final result (called Digest) is obtained.</a:t>
            </a:r>
          </a:p>
        </p:txBody>
      </p:sp>
    </p:spTree>
    <p:extLst>
      <p:ext uri="{BB962C8B-B14F-4D97-AF65-F5344CB8AC3E}">
        <p14:creationId xmlns:p14="http://schemas.microsoft.com/office/powerpoint/2010/main" val="133486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B29A-D011-296A-28B3-E8AA8B23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Advanced Concepts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4B949-B8E4-2EA8-CB7B-BADA95F11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collision is a very rare occurrence where two different inputs receive the same hash.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Rainbow Tables attacks: Hackers prepare huge tables containing popular passwords and their hashes. If they steal the database, they simply perform a "comparison" and recover the password.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720C-E7D1-1334-0560-4D6F5FEC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MD5 </a:t>
            </a:r>
            <a:r>
              <a:rPr lang="en-US">
                <a:latin typeface="Aptos"/>
              </a:rPr>
              <a:t>collision &amp; Rainbow Tables attacks</a:t>
            </a:r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845899-5E02-DE6A-EBE5-CCAD78DC5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8768" y="2151264"/>
            <a:ext cx="3552825" cy="1276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C6F05C-EA77-1A11-A79D-F4EA46E52242}"/>
              </a:ext>
            </a:extLst>
          </p:cNvPr>
          <p:cNvSpPr txBox="1"/>
          <p:nvPr/>
        </p:nvSpPr>
        <p:spPr>
          <a:xfrm>
            <a:off x="1520375" y="2498002"/>
            <a:ext cx="210516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/>
              <a:t>Collision :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078E0-7FD2-4633-8C03-AE30581C6A09}"/>
              </a:ext>
            </a:extLst>
          </p:cNvPr>
          <p:cNvSpPr txBox="1"/>
          <p:nvPr/>
        </p:nvSpPr>
        <p:spPr>
          <a:xfrm>
            <a:off x="1374088" y="5475336"/>
            <a:ext cx="308955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/>
              <a:t>Rainbow Tables :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350661-2F6E-5015-BF4A-6C30FE233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437" y="3874265"/>
            <a:ext cx="4063126" cy="237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3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BF17-B004-3BA3-9F1F-63F03734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Hashing VS Encryption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B5E24B-5085-5923-555A-0FE9D45EB0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49371"/>
              </p:ext>
            </p:extLst>
          </p:nvPr>
        </p:nvGraphicFramePr>
        <p:xfrm>
          <a:off x="838200" y="2745601"/>
          <a:ext cx="10515600" cy="358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758954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56691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98148295"/>
                    </a:ext>
                  </a:extLst>
                </a:gridCol>
              </a:tblGrid>
              <a:tr h="833317">
                <a:tc>
                  <a:txBody>
                    <a:bodyPr/>
                    <a:lstStyle/>
                    <a:p>
                      <a:r>
                        <a:rPr lang="en-US" sz="40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Hashing 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Encryption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190901"/>
                  </a:ext>
                </a:extLst>
              </a:tr>
              <a:tr h="83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Direction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One-way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Two-way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124521"/>
                  </a:ext>
                </a:extLst>
              </a:tr>
              <a:tr h="83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 dirty="0" err="1">
                          <a:solidFill>
                            <a:schemeClr val="accent1"/>
                          </a:solidFill>
                          <a:latin typeface="Aptos"/>
                        </a:rPr>
                        <a:t>Primaty</a:t>
                      </a:r>
                      <a:r>
                        <a:rPr lang="en-US" sz="4000" b="1" i="0" u="none" strike="noStrike" noProof="0" dirty="0">
                          <a:solidFill>
                            <a:schemeClr val="accent1"/>
                          </a:solidFill>
                          <a:latin typeface="Aptos"/>
                        </a:rPr>
                        <a:t> Goal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Integrity</a:t>
                      </a:r>
                      <a:endParaRPr lang="en-US" sz="4000" b="1" i="0" u="none" strike="noStrike" noProof="0" dirty="0">
                        <a:solidFill>
                          <a:schemeClr val="accent1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Confidentiality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566523"/>
                  </a:ext>
                </a:extLst>
              </a:tr>
              <a:tr h="83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Key Required?</a:t>
                      </a:r>
                      <a:endParaRPr lang="en-US" sz="36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No</a:t>
                      </a:r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noProof="0" dirty="0">
                          <a:solidFill>
                            <a:schemeClr val="accent1"/>
                          </a:solidFill>
                          <a:latin typeface="Aptos"/>
                        </a:rPr>
                        <a:t>Yes(public/private or </a:t>
                      </a:r>
                      <a:r>
                        <a:rPr lang="en-US" sz="2800" b="1" i="0" u="none" strike="noStrike" noProof="0">
                          <a:solidFill>
                            <a:schemeClr val="accent1"/>
                          </a:solidFill>
                          <a:latin typeface="Aptos"/>
                        </a:rPr>
                        <a:t>symmetric)</a:t>
                      </a:r>
                      <a:endParaRPr lang="en-US" sz="28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96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52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Introduction to hashing python</vt:lpstr>
      <vt:lpstr>What is hashing ??? </vt:lpstr>
      <vt:lpstr>Why do we use Hashing ??</vt:lpstr>
      <vt:lpstr>How linux save password ?? </vt:lpstr>
      <vt:lpstr>The Mechanism </vt:lpstr>
      <vt:lpstr>Advanced Concepts</vt:lpstr>
      <vt:lpstr>MD5 collision &amp; Rainbow Tables attacks</vt:lpstr>
      <vt:lpstr>Hashing VS Encryption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174</cp:revision>
  <dcterms:created xsi:type="dcterms:W3CDTF">2026-04-27T08:25:46Z</dcterms:created>
  <dcterms:modified xsi:type="dcterms:W3CDTF">2026-04-28T20:14:00Z</dcterms:modified>
</cp:coreProperties>
</file>